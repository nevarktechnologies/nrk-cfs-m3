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65" r:id="rId4"/>
    <p:sldId id="266" r:id="rId5"/>
    <p:sldId id="261" r:id="rId6"/>
    <p:sldId id="289" r:id="rId7"/>
    <p:sldId id="263" r:id="rId8"/>
    <p:sldId id="288" r:id="rId9"/>
  </p:sldIdLst>
  <p:sldSz cx="9144000" cy="6858000" type="screen4x3"/>
  <p:notesSz cx="6858000" cy="9144000"/>
  <p:embeddedFontLst>
    <p:embeddedFont>
      <p:font typeface="Archivo Narrow" panose="020B0604020202020204" charset="0"/>
      <p:regular r:id="rId11"/>
      <p:bold r:id="rId12"/>
      <p:italic r:id="rId13"/>
      <p:boldItalic r:id="rId14"/>
    </p:embeddedFont>
    <p:embeddedFont>
      <p:font typeface="Book Antiqua" panose="02040602050305030304" pitchFamily="18" charset="0"/>
      <p:regular r:id="rId15"/>
      <p:bold r:id="rId16"/>
      <p:italic r:id="rId17"/>
      <p:boldItalic r:id="rId18"/>
    </p:embeddedFont>
    <p:embeddedFont>
      <p:font typeface="Georgia" panose="02040502050405020303" pitchFamily="18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49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0754475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Shape 10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91836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11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Shape 11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40744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Shape 12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1497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Shape 12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67000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Shape 12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21264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Shape 12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31999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ctrTitle"/>
          </p:nvPr>
        </p:nvSpPr>
        <p:spPr>
          <a:xfrm>
            <a:off x="311700" y="1886797"/>
            <a:ext cx="8520600" cy="18429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" name="Shape 13"/>
          <p:cNvSpPr/>
          <p:nvPr/>
        </p:nvSpPr>
        <p:spPr>
          <a:xfrm flipH="1">
            <a:off x="18" y="67300"/>
            <a:ext cx="9143982" cy="1420254"/>
          </a:xfrm>
          <a:prstGeom prst="flowChartDocument">
            <a:avLst/>
          </a:prstGeom>
          <a:noFill/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Shape 14"/>
          <p:cNvSpPr/>
          <p:nvPr/>
        </p:nvSpPr>
        <p:spPr>
          <a:xfrm flipH="1">
            <a:off x="18" y="0"/>
            <a:ext cx="9143982" cy="1420254"/>
          </a:xfrm>
          <a:prstGeom prst="flowChartDocument">
            <a:avLst/>
          </a:prstGeom>
          <a:solidFill>
            <a:srgbClr val="0B539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" name="Shape 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0546" y="342390"/>
            <a:ext cx="2463805" cy="779367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Shape 16"/>
          <p:cNvSpPr/>
          <p:nvPr/>
        </p:nvSpPr>
        <p:spPr>
          <a:xfrm>
            <a:off x="-11025" y="5919900"/>
            <a:ext cx="9155100" cy="9381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Shape 17"/>
          <p:cNvSpPr txBox="1"/>
          <p:nvPr/>
        </p:nvSpPr>
        <p:spPr>
          <a:xfrm>
            <a:off x="25" y="5919900"/>
            <a:ext cx="3572100" cy="9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MISSION</a:t>
            </a:r>
            <a:endParaRPr b="1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 is a nurturing ground for an individual’s holistic development to make effective contribution to the society in a dynamic environment</a:t>
            </a:r>
            <a:endParaRPr sz="11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8" name="Shape 18"/>
          <p:cNvSpPr txBox="1"/>
          <p:nvPr/>
        </p:nvSpPr>
        <p:spPr>
          <a:xfrm>
            <a:off x="3709075" y="5919900"/>
            <a:ext cx="2030700" cy="6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VISION</a:t>
            </a:r>
            <a:endParaRPr b="1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 sz="11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" name="Shape 19"/>
          <p:cNvSpPr txBox="1"/>
          <p:nvPr/>
        </p:nvSpPr>
        <p:spPr>
          <a:xfrm>
            <a:off x="6067875" y="5919900"/>
            <a:ext cx="2984400" cy="9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CORE  VALUES</a:t>
            </a:r>
            <a:endParaRPr b="1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Faith in God |  Moral Uprightness</a:t>
            </a:r>
            <a:br>
              <a:rPr lang="en-GB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 Love of Fellow Beings   </a:t>
            </a:r>
            <a:br>
              <a:rPr lang="en-GB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Social Responsibility | Pursuit of Excellence</a:t>
            </a:r>
            <a:endParaRPr sz="11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2" name="Shape 2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" name="Shape 23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Shape 24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" name="Shape 25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Shape 26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Shape 27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4290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600"/>
              </a:spcBef>
              <a:spcAft>
                <a:spcPts val="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2" name="Shape 32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Shape 33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4" name="Shape 34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Shape 35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Shape 36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600"/>
              </a:spcBef>
              <a:spcAft>
                <a:spcPts val="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600"/>
              </a:spcBef>
              <a:spcAft>
                <a:spcPts val="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2" name="Shape 42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Shape 43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4" name="Shape 44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Shape 45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Shape 46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Shape 4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0" name="Shape 50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Shape 51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2" name="Shape 52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Shape 53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Shape 54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7" name="Shape 5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600"/>
              </a:spcBef>
              <a:spcAft>
                <a:spcPts val="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8" name="Shape 5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9" name="Shape 59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Shape 60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1" name="Shape 61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Shape 62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Shape 63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66" name="Shape 6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7" name="Shape 67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Shape 68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9" name="Shape 69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Shape 70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Shape 71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Shape 74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5" name="Shape 75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6" name="Shape 76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368300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4290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600"/>
              </a:spcBef>
              <a:spcAft>
                <a:spcPts val="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77" name="Shape 7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Shape 78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Shape 79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0" name="Shape 80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Shape 81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Shape 82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</a:lstStyle>
          <a:p>
            <a:endParaRPr/>
          </a:p>
        </p:txBody>
      </p:sp>
      <p:sp>
        <p:nvSpPr>
          <p:cNvPr id="85" name="Shape 8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Shape 86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Shape 87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8" name="Shape 88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Shape 89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Shape 90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 txBox="1">
            <a:spLocks noGrp="1"/>
          </p:cNvSpPr>
          <p:nvPr>
            <p:ph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93" name="Shape 93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68300" algn="ctr"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1pPr>
            <a:lvl2pPr marL="914400" lvl="1" indent="-342900" algn="ctr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ctr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ctr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ctr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ctr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ctr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ctr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ctr">
              <a:spcBef>
                <a:spcPts val="600"/>
              </a:spcBef>
              <a:spcAft>
                <a:spcPts val="60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94" name="Shape 9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5" name="Shape 95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Shape 96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7" name="Shape 97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Shape 98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Shape 99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2" name="Shape 102"/>
          <p:cNvSpPr/>
          <p:nvPr/>
        </p:nvSpPr>
        <p:spPr>
          <a:xfrm>
            <a:off x="-11025" y="6347775"/>
            <a:ext cx="9155100" cy="5103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Shape 103"/>
          <p:cNvSpPr txBox="1"/>
          <p:nvPr/>
        </p:nvSpPr>
        <p:spPr>
          <a:xfrm>
            <a:off x="3343200" y="6431140"/>
            <a:ext cx="2457600" cy="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Excellence and Service</a:t>
            </a:r>
            <a:endParaRPr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4" name="Shape 104"/>
          <p:cNvSpPr/>
          <p:nvPr/>
        </p:nvSpPr>
        <p:spPr>
          <a:xfrm rot="10800000">
            <a:off x="6945800" y="275"/>
            <a:ext cx="2207100" cy="6147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Shape 105"/>
          <p:cNvSpPr/>
          <p:nvPr/>
        </p:nvSpPr>
        <p:spPr>
          <a:xfrm rot="10800000">
            <a:off x="-2200" y="-25"/>
            <a:ext cx="9155100" cy="364800"/>
          </a:xfrm>
          <a:prstGeom prst="round2SameRect">
            <a:avLst>
              <a:gd name="adj1" fmla="val 12503"/>
              <a:gd name="adj2" fmla="val 0"/>
            </a:avLst>
          </a:prstGeom>
          <a:solidFill>
            <a:srgbClr val="0B5394"/>
          </a:solidFill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Shape 106"/>
          <p:cNvSpPr txBox="1"/>
          <p:nvPr/>
        </p:nvSpPr>
        <p:spPr>
          <a:xfrm>
            <a:off x="6945800" y="248094"/>
            <a:ext cx="22071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CHRIST</a:t>
            </a:r>
            <a:br>
              <a:rPr lang="en-GB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GB" sz="1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Deemed to be University</a:t>
            </a:r>
            <a:endParaRPr sz="12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Archivo Narrow"/>
              <a:buNone/>
              <a:defRPr sz="2800" b="1">
                <a:latin typeface="Archivo Narrow"/>
                <a:ea typeface="Archivo Narrow"/>
                <a:cs typeface="Archivo Narrow"/>
                <a:sym typeface="Archivo Narrow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683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chivo Narrow"/>
              <a:buChar char="●"/>
              <a:defRPr sz="2200"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marL="914400" lvl="1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chivo Narrow"/>
              <a:buChar char="○"/>
              <a:defRPr sz="1800">
                <a:latin typeface="Archivo Narrow"/>
                <a:ea typeface="Archivo Narrow"/>
                <a:cs typeface="Archivo Narrow"/>
                <a:sym typeface="Archivo Narrow"/>
              </a:defRPr>
            </a:lvl2pPr>
            <a:lvl3pPr marL="1371600" lvl="2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chivo Narrow"/>
              <a:buChar char="■"/>
              <a:defRPr sz="1800">
                <a:latin typeface="Archivo Narrow"/>
                <a:ea typeface="Archivo Narrow"/>
                <a:cs typeface="Archivo Narrow"/>
                <a:sym typeface="Archivo Narrow"/>
              </a:defRPr>
            </a:lvl3pPr>
            <a:lvl4pPr marL="1828800" lvl="3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chivo Narrow"/>
              <a:buChar char="●"/>
              <a:defRPr sz="1800">
                <a:latin typeface="Archivo Narrow"/>
                <a:ea typeface="Archivo Narrow"/>
                <a:cs typeface="Archivo Narrow"/>
                <a:sym typeface="Archivo Narrow"/>
              </a:defRPr>
            </a:lvl4pPr>
            <a:lvl5pPr marL="2286000" lvl="4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chivo Narrow"/>
              <a:buChar char="○"/>
              <a:defRPr sz="1800">
                <a:latin typeface="Archivo Narrow"/>
                <a:ea typeface="Archivo Narrow"/>
                <a:cs typeface="Archivo Narrow"/>
                <a:sym typeface="Archivo Narrow"/>
              </a:defRPr>
            </a:lvl5pPr>
            <a:lvl6pPr marL="2743200" lvl="5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chivo Narrow"/>
              <a:buChar char="■"/>
              <a:defRPr sz="1800">
                <a:latin typeface="Archivo Narrow"/>
                <a:ea typeface="Archivo Narrow"/>
                <a:cs typeface="Archivo Narrow"/>
                <a:sym typeface="Archivo Narrow"/>
              </a:defRPr>
            </a:lvl6pPr>
            <a:lvl7pPr marL="3200400" lvl="6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chivo Narrow"/>
              <a:buChar char="●"/>
              <a:defRPr sz="1800">
                <a:latin typeface="Archivo Narrow"/>
                <a:ea typeface="Archivo Narrow"/>
                <a:cs typeface="Archivo Narrow"/>
                <a:sym typeface="Archivo Narrow"/>
              </a:defRPr>
            </a:lvl7pPr>
            <a:lvl8pPr marL="3657600" lvl="7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chivo Narrow"/>
              <a:buChar char="○"/>
              <a:defRPr sz="1800">
                <a:latin typeface="Archivo Narrow"/>
                <a:ea typeface="Archivo Narrow"/>
                <a:cs typeface="Archivo Narrow"/>
                <a:sym typeface="Archivo Narrow"/>
              </a:defRPr>
            </a:lvl8pPr>
            <a:lvl9pPr marL="4114800" lvl="8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Font typeface="Archivo Narrow"/>
              <a:buChar char="■"/>
              <a:defRPr sz="1800">
                <a:latin typeface="Archivo Narrow"/>
                <a:ea typeface="Archivo Narrow"/>
                <a:cs typeface="Archivo Narrow"/>
                <a:sym typeface="Archivo Narrow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 txBox="1">
            <a:spLocks noGrp="1"/>
          </p:cNvSpPr>
          <p:nvPr>
            <p:ph type="ctrTitle"/>
          </p:nvPr>
        </p:nvSpPr>
        <p:spPr>
          <a:xfrm>
            <a:off x="315813" y="961927"/>
            <a:ext cx="8520600" cy="171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 of the Project Work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572001" y="4197927"/>
            <a:ext cx="4003964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Details: Name Reg. No</a:t>
            </a:r>
          </a:p>
          <a:p>
            <a:endParaRPr lang="en-GB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 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</a:t>
            </a: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Name</a:t>
            </a:r>
          </a:p>
          <a:p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indent="-342900">
              <a:spcAft>
                <a:spcPts val="600"/>
              </a:spcAft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600"/>
              </a:spcAft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342900" indent="-342900">
              <a:spcAft>
                <a:spcPts val="600"/>
              </a:spcAft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and Objectives</a:t>
            </a:r>
          </a:p>
          <a:p>
            <a:pPr marL="342900" indent="-342900">
              <a:spcAft>
                <a:spcPts val="600"/>
              </a:spcAft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Review/ Background Study</a:t>
            </a:r>
          </a:p>
          <a:p>
            <a:pPr marL="342900" indent="-342900">
              <a:spcAft>
                <a:spcPts val="600"/>
              </a:spcAft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and Software Requirements</a:t>
            </a:r>
          </a:p>
          <a:p>
            <a:pPr marL="342900" indent="-342900">
              <a:spcAft>
                <a:spcPts val="600"/>
              </a:spcAft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</a:t>
            </a:r>
          </a:p>
          <a:p>
            <a:pPr marL="342900" indent="-342900">
              <a:spcAft>
                <a:spcPts val="600"/>
              </a:spcAft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0" lvl="0" indent="0">
              <a:spcBef>
                <a:spcPts val="0"/>
              </a:spcBef>
              <a:spcAft>
                <a:spcPts val="600"/>
              </a:spcAft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850" y="1356867"/>
            <a:ext cx="7216500" cy="4758184"/>
          </a:xfrm>
        </p:spPr>
        <p:txBody>
          <a:bodyPr/>
          <a:lstStyle/>
          <a:p>
            <a:pPr lvl="0"/>
            <a:r>
              <a:rPr lang="en-GB" sz="2000" dirty="0">
                <a:latin typeface="Book Antiqua" panose="02040602050305030304" pitchFamily="18" charset="0"/>
              </a:rPr>
              <a:t>Provide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2000" dirty="0">
                <a:latin typeface="Book Antiqua" panose="02040602050305030304" pitchFamily="18" charset="0"/>
              </a:rPr>
              <a:t> abstract of your project as bulleted points</a:t>
            </a:r>
            <a:endParaRPr lang="en-IN" sz="20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2118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and Objectives</a:t>
            </a:r>
          </a:p>
        </p:txBody>
      </p:sp>
      <p:sp>
        <p:nvSpPr>
          <p:cNvPr id="6" name="Shape 118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 the problem statement identified by you and the objectives. Objectives have to be given as clear bulleted points. At least three objectives.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3932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/ Background Study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Shape 124"/>
          <p:cNvSpPr txBox="1">
            <a:spLocks noGrp="1"/>
          </p:cNvSpPr>
          <p:nvPr>
            <p:ph type="body" idx="1"/>
          </p:nvPr>
        </p:nvSpPr>
        <p:spPr>
          <a:xfrm>
            <a:off x="311700" y="1734925"/>
            <a:ext cx="8060775" cy="23638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you should present the details of any existing system and justify how your project addresses the gaps in the existing system.</a:t>
            </a:r>
          </a:p>
        </p:txBody>
      </p:sp>
    </p:spTree>
    <p:extLst>
      <p:ext uri="{BB962C8B-B14F-4D97-AF65-F5344CB8AC3E}">
        <p14:creationId xmlns:p14="http://schemas.microsoft.com/office/powerpoint/2010/main" val="2609037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and Software Requirements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Shape 124"/>
          <p:cNvSpPr txBox="1">
            <a:spLocks noGrp="1"/>
          </p:cNvSpPr>
          <p:nvPr>
            <p:ph type="body" idx="1"/>
          </p:nvPr>
        </p:nvSpPr>
        <p:spPr>
          <a:xfrm>
            <a:off x="311700" y="1540423"/>
            <a:ext cx="8403675" cy="45456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all the software and hardware requirements for the project.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8950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 txBox="1">
            <a:spLocks noGrp="1"/>
          </p:cNvSpPr>
          <p:nvPr>
            <p:ph type="title"/>
          </p:nvPr>
        </p:nvSpPr>
        <p:spPr>
          <a:xfrm>
            <a:off x="311700" y="544876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Shape 124"/>
          <p:cNvSpPr txBox="1">
            <a:spLocks noGrp="1"/>
          </p:cNvSpPr>
          <p:nvPr>
            <p:ph type="body" idx="1"/>
          </p:nvPr>
        </p:nvSpPr>
        <p:spPr>
          <a:xfrm>
            <a:off x="311700" y="1536976"/>
            <a:ext cx="8403675" cy="42126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IN" sz="2500" dirty="0">
              <a:latin typeface="Book Antiqua" panose="02040602050305030304" pitchFamily="18" charset="0"/>
            </a:endParaRPr>
          </a:p>
          <a:p>
            <a:endParaRPr lang="en-IN" sz="2500" dirty="0">
              <a:latin typeface="Book Antiqua" panose="02040602050305030304" pitchFamily="18" charset="0"/>
            </a:endParaRPr>
          </a:p>
          <a:p>
            <a:endParaRPr lang="en-IN" sz="2500" dirty="0">
              <a:latin typeface="Book Antiqua" panose="02040602050305030304" pitchFamily="18" charset="0"/>
            </a:endParaRPr>
          </a:p>
          <a:p>
            <a:pPr marL="88900" indent="0">
              <a:buNone/>
            </a:pPr>
            <a:endParaRPr lang="en-IN" sz="2500" dirty="0">
              <a:latin typeface="Book Antiqua" panose="02040602050305030304" pitchFamily="18" charset="0"/>
            </a:endParaRPr>
          </a:p>
        </p:txBody>
      </p:sp>
      <p:sp>
        <p:nvSpPr>
          <p:cNvPr id="6" name="Shape 124"/>
          <p:cNvSpPr txBox="1">
            <a:spLocks/>
          </p:cNvSpPr>
          <p:nvPr/>
        </p:nvSpPr>
        <p:spPr>
          <a:xfrm>
            <a:off x="311700" y="1540423"/>
            <a:ext cx="8403675" cy="4545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chivo Narrow"/>
              <a:buChar char="●"/>
              <a:defRPr sz="22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○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■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●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○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■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●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○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Archivo Narrow"/>
              <a:buChar char="■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9pPr>
          </a:lstStyle>
          <a:p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timeline for completing the project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6442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 txBox="1">
            <a:spLocks noGrp="1"/>
          </p:cNvSpPr>
          <p:nvPr>
            <p:ph type="title"/>
          </p:nvPr>
        </p:nvSpPr>
        <p:spPr>
          <a:xfrm>
            <a:off x="311700" y="647062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Shape 124"/>
          <p:cNvSpPr txBox="1">
            <a:spLocks noGrp="1"/>
          </p:cNvSpPr>
          <p:nvPr>
            <p:ph type="body" idx="1"/>
          </p:nvPr>
        </p:nvSpPr>
        <p:spPr>
          <a:xfrm>
            <a:off x="311700" y="1536976"/>
            <a:ext cx="8403675" cy="42126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IN" sz="2500" dirty="0">
              <a:latin typeface="Book Antiqua" panose="02040602050305030304" pitchFamily="18" charset="0"/>
            </a:endParaRPr>
          </a:p>
          <a:p>
            <a:endParaRPr lang="en-IN" sz="2500" dirty="0">
              <a:latin typeface="Book Antiqua" panose="02040602050305030304" pitchFamily="18" charset="0"/>
            </a:endParaRPr>
          </a:p>
          <a:p>
            <a:endParaRPr lang="en-IN" sz="2500" dirty="0">
              <a:latin typeface="Book Antiqua" panose="02040602050305030304" pitchFamily="18" charset="0"/>
            </a:endParaRPr>
          </a:p>
          <a:p>
            <a:pPr marL="88900" indent="0">
              <a:buNone/>
            </a:pPr>
            <a:endParaRPr lang="en-IN" sz="2500" dirty="0">
              <a:latin typeface="Book Antiqua" panose="02040602050305030304" pitchFamily="18" charset="0"/>
            </a:endParaRPr>
          </a:p>
        </p:txBody>
      </p:sp>
      <p:sp>
        <p:nvSpPr>
          <p:cNvPr id="6" name="Shape 124"/>
          <p:cNvSpPr txBox="1">
            <a:spLocks/>
          </p:cNvSpPr>
          <p:nvPr/>
        </p:nvSpPr>
        <p:spPr>
          <a:xfrm>
            <a:off x="311700" y="1540423"/>
            <a:ext cx="8403675" cy="4545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chivo Narrow"/>
              <a:buChar char="●"/>
              <a:defRPr sz="22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○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■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●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○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■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●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chivo Narrow"/>
              <a:buChar char="○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Pts val="1800"/>
              <a:buFont typeface="Archivo Narrow"/>
              <a:buChar char="■"/>
              <a:defRPr sz="1800" b="0" i="0" u="none" strike="noStrike" cap="none">
                <a:solidFill>
                  <a:srgbClr val="000000"/>
                </a:solidFill>
                <a:latin typeface="Archivo Narrow"/>
                <a:ea typeface="Archivo Narrow"/>
                <a:cs typeface="Archivo Narrow"/>
                <a:sym typeface="Archivo Narrow"/>
              </a:defRPr>
            </a:lvl9pPr>
          </a:lstStyle>
          <a:p>
            <a:r>
              <a:rPr lang="en-GB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all the references in IEEE style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6774109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843</TotalTime>
  <Words>133</Words>
  <Application>Microsoft Office PowerPoint</Application>
  <PresentationFormat>On-screen Show (4:3)</PresentationFormat>
  <Paragraphs>28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Book Antiqua</vt:lpstr>
      <vt:lpstr>Georgia</vt:lpstr>
      <vt:lpstr>Times New Roman</vt:lpstr>
      <vt:lpstr>Archivo Narrow</vt:lpstr>
      <vt:lpstr>Arial</vt:lpstr>
      <vt:lpstr>Simple Light</vt:lpstr>
      <vt:lpstr>Title of the Project Work</vt:lpstr>
      <vt:lpstr>Agenda</vt:lpstr>
      <vt:lpstr>Abstract</vt:lpstr>
      <vt:lpstr>Problem Statement and Objectives</vt:lpstr>
      <vt:lpstr>Literature Review / Background Study</vt:lpstr>
      <vt:lpstr>Hardware and Software Requirements</vt:lpstr>
      <vt:lpstr>Timeline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Process and Project Management (CS832E02)</dc:title>
  <dc:creator>Bijeesh</dc:creator>
  <cp:lastModifiedBy>Nikhil Emmanuel</cp:lastModifiedBy>
  <cp:revision>53</cp:revision>
  <dcterms:modified xsi:type="dcterms:W3CDTF">2026-07-21T01:00:19Z</dcterms:modified>
</cp:coreProperties>
</file>