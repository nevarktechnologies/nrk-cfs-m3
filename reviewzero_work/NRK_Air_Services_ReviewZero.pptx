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5" r:id="rId4"/>
    <p:sldId id="266" r:id="rId5"/>
    <p:sldId id="261" r:id="rId6"/>
    <p:sldId id="289" r:id="rId7"/>
    <p:sldId id="263" r:id="rId8"/>
    <p:sldId id="288" r:id="rId9"/>
  </p:sldIdLst>
  <p:sldSz cx="9144000" cy="6858000" type="screen4x3"/>
  <p:notesSz cx="6858000" cy="9144000"/>
  <p:embeddedFontLst>
    <p:embeddedFont>
      <p:font typeface="Archivo Narrow" panose="020B0604020202020204" charset="0"/>
      <p:regular r:id="rId11"/>
      <p:bold r:id="rId12"/>
      <p:italic r:id="rId13"/>
      <p:boldItalic r:id="rId14"/>
    </p:embeddedFont>
    <p:embeddedFont>
      <p:font typeface="Book Antiqua" panose="02040602050305030304" pitchFamily="18" charset="0"/>
      <p:regular r:id="rId15"/>
      <p:bold r:id="rId16"/>
      <p:italic r:id="rId17"/>
      <p:boldItalic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75447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183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074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497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6700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126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199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Shape 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0546" y="342390"/>
            <a:ext cx="2463805" cy="77936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VALUES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Shape 23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Shape 2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Shape 5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Shape 5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hape 5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ctrTitle"/>
          </p:nvPr>
        </p:nvSpPr>
        <p:spPr>
          <a:xfrm>
            <a:off x="315813" y="961927"/>
            <a:ext cx="8520600" cy="17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NRK Air Services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AI-Enabled Geo-Vision Aerial Logistics for Smart Last-Mile Delivery and Emergency Healthcare Transport across India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1" y="4197927"/>
            <a:ext cx="40039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Details: [Student Name] | [Reg. No.]</a:t>
            </a:r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[Guide Name]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spcAft>
                <a:spcPts val="600"/>
              </a:spcAf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850" y="1356867"/>
            <a:ext cx="7216500" cy="4758184"/>
          </a:xfrm>
        </p:spPr>
        <p:txBody>
          <a:bodyPr/>
          <a:lstStyle/>
          <a:p>
            <a:pPr lvl="0">
              <a:spcAft>
                <a:spcPts val="5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NRK Air Services is an AI-enabled aerial logistics platform that uses autonomous drones, computer vision, and geospatial intelligence to deliver goods and emergency medical supplies across India.</a:t>
            </a:r>
          </a:p>
          <a:p>
            <a:pPr lvl="0">
              <a:spcAft>
                <a:spcPts val="500"/>
              </a:spcAft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Challenge: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dependence on road transport causes traffic delays, high fuel use and emissions, and poor access to remote and disaster-affected zones.</a:t>
            </a:r>
          </a:p>
          <a:p>
            <a:pPr lvl="0">
              <a:spcAft>
                <a:spcPts val="500"/>
              </a:spcAft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Solution: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AI, computer vision, geospatial intelligence, autonomous drones, and cloud-based fleet management into a single last-mile delivery system.</a:t>
            </a:r>
          </a:p>
          <a:p>
            <a:pPr lvl="0">
              <a:spcAft>
                <a:spcPts val="500"/>
              </a:spcAft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Core innovation: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trimodal Geo-Vision pipeline that fuses a ground photo, a text landmark description, and GPS to verify the exact delivery location — even in GPS-denied areas.</a:t>
            </a:r>
          </a:p>
          <a:p>
            <a:pPr lvl="0">
              <a:spcAft>
                <a:spcPts val="500"/>
              </a:spcAft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Impact: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deliveries, lower operational cost and carbon emissions, and reliable emergency transport of medicines, blood, and vaccines.</a:t>
            </a:r>
          </a:p>
        </p:txBody>
      </p:sp>
    </p:spTree>
    <p:extLst>
      <p:ext uri="{BB962C8B-B14F-4D97-AF65-F5344CB8AC3E}">
        <p14:creationId xmlns:p14="http://schemas.microsoft.com/office/powerpoint/2010/main" val="112211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</p:txBody>
      </p:sp>
      <p:sp>
        <p:nvSpPr>
          <p:cNvPr id="6" name="Shape 1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5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0">
              <a:spcAft>
                <a:spcPts val="15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Traffic-induced congestion delays last-mile and emergency deliveries.</a:t>
            </a:r>
          </a:p>
          <a:p>
            <a:pPr lvl="0">
              <a:spcAft>
                <a:spcPts val="15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GPS-only drone navigation lacks intelligent visual verification for precise, address-level delivery.</a:t>
            </a:r>
          </a:p>
          <a:p>
            <a:pPr lvl="0">
              <a:spcAft>
                <a:spcPts val="15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fuel and labour dependency raise operating cost and carbon emissions.</a:t>
            </a:r>
          </a:p>
          <a:p>
            <a:pPr lvl="0">
              <a:spcAft>
                <a:spcPts val="30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Remote, rural, and disaster-hit areas face delayed access to critical supplies.</a:t>
            </a:r>
          </a:p>
          <a:p>
            <a:pPr lvl="0">
              <a:spcAft>
                <a:spcPts val="15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>
              <a:spcAft>
                <a:spcPts val="15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autonomous drones to bypass road congestion and speed up last-mile and emergency delivery.</a:t>
            </a:r>
          </a:p>
          <a:p>
            <a:pPr lvl="0">
              <a:spcAft>
                <a:spcPts val="15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Geo-Vision trimodal pipeline (ground photo + text landmark + GPS) for precise, verifiable delivery in GPS-denied zones.</a:t>
            </a:r>
          </a:p>
          <a:p>
            <a:pPr lvl="0">
              <a:spcAft>
                <a:spcPts val="15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fuel and labour dependency, operating cost, and carbon emissions through electric aerial logistics.</a:t>
            </a:r>
          </a:p>
          <a:p>
            <a:pPr lvl="0">
              <a:spcAft>
                <a:spcPts val="15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reliable delivery of medicines, blood, and vaccines to remote, rural, and disaster areas.</a:t>
            </a:r>
          </a:p>
          <a:p>
            <a:pPr lvl="0">
              <a:spcAft>
                <a:spcPts val="150"/>
              </a:spcAf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a lightweight edge-offload architecture running cross-view matching on low-cost ESP32-class drone hardware.</a:t>
            </a:r>
          </a:p>
        </p:txBody>
      </p:sp>
    </p:spTree>
    <p:extLst>
      <p:ext uri="{BB962C8B-B14F-4D97-AF65-F5344CB8AC3E}">
        <p14:creationId xmlns:p14="http://schemas.microsoft.com/office/powerpoint/2010/main" val="1003932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 Study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734925"/>
            <a:ext cx="8060775" cy="2363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20"/>
              </a:spcAft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  <a:p>
            <a:pPr lvl="0">
              <a:spcAft>
                <a:spcPts val="12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Cross-view geo-localization 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(University-1652 [1], VIGOR [2]) established UAV-to-ground image matching, but only for structured Western cities.</a:t>
            </a:r>
          </a:p>
          <a:p>
            <a:pPr lvl="0">
              <a:spcAft>
                <a:spcPts val="12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Vision-language models 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(CLIP [3]) enable place recognition, yet match a single modality — no fusion of text + image + GPS.</a:t>
            </a:r>
          </a:p>
          <a:p>
            <a:pPr lvl="0">
              <a:spcAft>
                <a:spcPts val="12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UAV last-mile delivery 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(Zipline, Wing [7]) is operationally proven but GPS-only, with no visual delivery confirmation.</a:t>
            </a:r>
          </a:p>
          <a:p>
            <a:pPr lvl="0">
              <a:spcAft>
                <a:spcPts val="12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AI routing and edge AI 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(2023–2025) improve dynamic route planning and real-time on-board obstacle avoidance.</a:t>
            </a:r>
          </a:p>
          <a:p>
            <a:pPr lvl="0">
              <a:spcAft>
                <a:spcPts val="3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Indian scene datasets 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(IDD [4]) cover road driving only — no aerial-to-ground data for Indian rooftops or landmarks.</a:t>
            </a:r>
          </a:p>
          <a:p>
            <a:pPr lvl="0">
              <a:spcAft>
                <a:spcPts val="120"/>
              </a:spcAft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addressed by NRK</a:t>
            </a:r>
          </a:p>
          <a:p>
            <a:pPr lvl="0">
              <a:spcAft>
                <a:spcPts val="12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India-specific cross-view dataset → NRK captures rooftops, compound walls, water tanks, and landmark addresses.</a:t>
            </a:r>
          </a:p>
          <a:p>
            <a:pPr lvl="0">
              <a:spcAft>
                <a:spcPts val="12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multimodal address verification → NRK fuses ground photo + text + GPS (trimodal).</a:t>
            </a:r>
          </a:p>
          <a:p>
            <a:pPr lvl="0">
              <a:spcAft>
                <a:spcPts val="12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GPS-denied final-meter problem → NRK adds a visual-language matching fallback.</a:t>
            </a:r>
          </a:p>
          <a:p>
            <a:pPr lvl="0">
              <a:spcAft>
                <a:spcPts val="12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edge-offload verification → NRK runs cross-view matching on ESP32 drones via server offloading.</a:t>
            </a:r>
          </a:p>
        </p:txBody>
      </p:sp>
    </p:spTree>
    <p:extLst>
      <p:ext uri="{BB962C8B-B14F-4D97-AF65-F5344CB8AC3E}">
        <p14:creationId xmlns:p14="http://schemas.microsoft.com/office/powerpoint/2010/main" val="260903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40423"/>
            <a:ext cx="8403675" cy="45456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5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drone airframe (quad/hexacopter) with BLDC motors, ESCs, and propellers.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ESP32-class microcontroller for low-cost on-board (edge) compute with a Pixhawk / PX4 flight controller.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GPS/GNSS module, IMU, and obstacle-detection sensors (ultrasonic / LiDAR).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 camera module for ground-image capture and computer vision.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LiPo battery, power-management unit, and telemetry / 4G-LTE communication link.</a:t>
            </a:r>
          </a:p>
          <a:p>
            <a:pPr lvl="0">
              <a:spcAft>
                <a:spcPts val="30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GPU server/workstation (e.g., NVIDIA GPU) for model training and offloaded inference.</a:t>
            </a:r>
          </a:p>
          <a:p>
            <a:pPr lvl="0">
              <a:spcAft>
                <a:spcPts val="15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with PyTorch / TensorFlow for the cross-view and vision-language (CLIP) models.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for computer vision; GDAL / GeoPandas and mapping APIs for geospatial route optimization.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ArduPilot / PX4 firmware and ESP-IDF for flight and edge control.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mobile app for order placement, image upload, and real-time tracking.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 (AWS / Azure / GCP) with REST APIs for fleet management.</a:t>
            </a:r>
          </a:p>
          <a:p>
            <a:pPr lvl="0">
              <a:spcAft>
                <a:spcPts val="15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(MongoDB / PostgreSQL) with a web dashboard for analytics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388895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44876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  <a:buNone/>
            </a:pP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Indicative plan (Review 0 → final submission). Durations are in project weeks.</a:t>
            </a:r>
          </a:p>
          <a:p>
            <a:pPr lvl="0">
              <a:spcAft>
                <a:spcPts val="250"/>
              </a:spcAf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Phase 1 – Requirement Analysis &amp; Literature Survey (Weeks 1–3):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scope and study existing cross-view and UAV-delivery work.</a:t>
            </a:r>
          </a:p>
          <a:p>
            <a:pPr lvl="0">
              <a:spcAft>
                <a:spcPts val="250"/>
              </a:spcAf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Phase 2 – Dataset Collection &amp; Annotation (Weeks 4–7):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India-specific cross-view dataset (rooftops, landmarks, compound walls).</a:t>
            </a:r>
          </a:p>
          <a:p>
            <a:pPr lvl="0">
              <a:spcAft>
                <a:spcPts val="250"/>
              </a:spcAf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Phase 3 – Model Development (Weeks 8–12):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trimodal fusion pipeline (ground photo + text + GPS).</a:t>
            </a:r>
          </a:p>
          <a:p>
            <a:pPr lvl="0">
              <a:spcAft>
                <a:spcPts val="250"/>
              </a:spcAf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Phase 4 – Edge-Offload &amp; Drone Integration (Weeks 13–16):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cross-view matching on ESP32-class hardware with server offloading.</a:t>
            </a:r>
          </a:p>
          <a:p>
            <a:pPr lvl="0">
              <a:spcAft>
                <a:spcPts val="250"/>
              </a:spcAf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Phase 5 – System Integration (Weeks 17–19):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cloud fleet management, mobile app, and delivery-validation module.</a:t>
            </a:r>
          </a:p>
          <a:p>
            <a:pPr lvl="0">
              <a:spcAft>
                <a:spcPts val="250"/>
              </a:spcAf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Phase 6 – Testing &amp; Field Trials (Weeks 20–22):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accuracy, obstacle avoidance, and GPS-denied delivery.</a:t>
            </a:r>
          </a:p>
          <a:p>
            <a:pPr lvl="0">
              <a:spcAft>
                <a:spcPts val="250"/>
              </a:spcAft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Phase 7 – Evaluation &amp; Documentation (Weeks 23–24):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results and prepare the report and final review.</a:t>
            </a:r>
          </a:p>
        </p:txBody>
      </p:sp>
    </p:spTree>
    <p:extLst>
      <p:ext uri="{BB962C8B-B14F-4D97-AF65-F5344CB8AC3E}">
        <p14:creationId xmlns:p14="http://schemas.microsoft.com/office/powerpoint/2010/main" val="192644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64706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250"/>
              </a:spcAft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[1] 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Zheng, Y. Wei, and Y. Yang, "University-1652: A multi-view multi-source benchmark for drone-based geo-localization," in Proc. 28th ACM Int. Conf. Multimedia (MM), 2020, pp. 1395–1403.</a:t>
            </a:r>
          </a:p>
          <a:p>
            <a:pPr lvl="0">
              <a:spcAft>
                <a:spcPts val="250"/>
              </a:spcAft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[2] 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Zhu, T. Yang, and C. Chen, "VIGOR: Cross-view image geo-localization beyond one-to-one retrieval," in Proc. IEEE/CVF Conf. Computer Vision and Pattern Recognition (CVPR), 2021, pp. 3640–3649.</a:t>
            </a:r>
          </a:p>
          <a:p>
            <a:pPr lvl="0">
              <a:spcAft>
                <a:spcPts val="250"/>
              </a:spcAft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[3] 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Radford et al., "Learning transferable visual models from natural language supervision," in Proc. 38th Int. Conf. Machine Learning (ICML), 2021, pp. 8748–8763.</a:t>
            </a:r>
          </a:p>
          <a:p>
            <a:pPr lvl="0">
              <a:spcAft>
                <a:spcPts val="250"/>
              </a:spcAft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[4] 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Varma, A. Subramanian, A. Namboodiri, M. Chandraker, and C. V. Jawahar, "IDD: A dataset for exploring problems of autonomous navigation in unconstrained environments," in Proc. IEEE Winter Conf. Applications of Computer Vision (WACV), 2019, pp. 1743–1751.</a:t>
            </a:r>
          </a:p>
          <a:p>
            <a:pPr lvl="0">
              <a:spcAft>
                <a:spcPts val="250"/>
              </a:spcAft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[5] 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Shakhatreh et al., "Unmanned aerial vehicles (UAVs): A survey on civil applications and key research challenges," IEEE Access, vol. 7, pp. 48572–48634, 2019.</a:t>
            </a:r>
          </a:p>
          <a:p>
            <a:pPr lvl="0">
              <a:spcAft>
                <a:spcPts val="250"/>
              </a:spcAft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[6] 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Mozaffari, W. Saad, M. Bennis, Y.-H. Nam, and M. Debbah, "A tutorial on UAVs for wireless networks: Applications, challenges, and open problems," IEEE Commun. Surveys Tuts., vol. 21, no. 3, pp. 2334–2360, 2019.</a:t>
            </a:r>
          </a:p>
          <a:p>
            <a:pPr lvl="0">
              <a:spcAft>
                <a:spcPts val="250"/>
              </a:spcAft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[7] 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Ackerman and E. Strickland, "Medical delivery drones take flight in East Africa," IEEE Spectrum, vol. 55, no. 1, pp. 34–35, Jan. 2018.</a:t>
            </a:r>
          </a:p>
          <a:p>
            <a:pPr lvl="0">
              <a:spcAft>
                <a:spcPts val="250"/>
              </a:spcAft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[8] 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A. H. Mohsan et al., "Unmanned aerial vehicles (UAVs): practical aspects, applications, open challenges, security issues, and future trends," Intelligent Service Robotics, vol. 16, pp. 109–137, 2023.</a:t>
            </a:r>
          </a:p>
        </p:txBody>
      </p:sp>
    </p:spTree>
    <p:extLst>
      <p:ext uri="{BB962C8B-B14F-4D97-AF65-F5344CB8AC3E}">
        <p14:creationId xmlns:p14="http://schemas.microsoft.com/office/powerpoint/2010/main" val="39867741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133</Words>
  <Application>Microsoft Office PowerPoint</Application>
  <PresentationFormat>On-screen Show (4:3)</PresentationFormat>
  <Paragraphs>28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Book Antiqua</vt:lpstr>
      <vt:lpstr>Georgia</vt:lpstr>
      <vt:lpstr>Times New Roman</vt:lpstr>
      <vt:lpstr>Archivo Narrow</vt:lpstr>
      <vt:lpstr>Arial</vt:lpstr>
      <vt:lpstr>Simple Light</vt:lpstr>
      <vt:lpstr>Title of the Project Work</vt:lpstr>
      <vt:lpstr>Agenda</vt:lpstr>
      <vt:lpstr>Abstract</vt:lpstr>
      <vt:lpstr>Problem Statement and Objectives</vt:lpstr>
      <vt:lpstr>Literature Review / Background Study</vt:lpstr>
      <vt:lpstr>Hardware and Software Requirements</vt:lpstr>
      <vt:lpstr>Timeline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 and Project Management (CS832E02)</dc:title>
  <dc:creator>Bijeesh</dc:creator>
  <cp:lastModifiedBy>Nikhil Emmanuel</cp:lastModifiedBy>
  <cp:revision>53</cp:revision>
  <dcterms:modified xsi:type="dcterms:W3CDTF">2026-07-21T01:00:19Z</dcterms:modified>
</cp:coreProperties>
</file>